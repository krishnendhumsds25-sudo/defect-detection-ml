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F70-4D03-BDC6-34DD1277D618}"/>
              </c:ext>
            </c:extLst>
          </c:dPt>
          <c:dPt>
            <c:idx val="1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70-4D03-BDC6-34DD1277D618}"/>
              </c:ext>
            </c:extLst>
          </c:dPt>
          <c:dPt>
            <c:idx val="2"/>
            <c:invertIfNegative val="0"/>
            <c:bubble3D val="0"/>
            <c:spPr>
              <a:solidFill>
                <a:srgbClr val="29B6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70-4D03-BDC6-34DD1277D618}"/>
              </c:ext>
            </c:extLst>
          </c:dPt>
          <c:dPt>
            <c:idx val="3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70-4D03-BDC6-34DD1277D61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Random Forest</c:v>
                </c:pt>
                <c:pt idx="1">
                  <c:v>Decision Tree</c:v>
                </c:pt>
                <c:pt idx="2">
                  <c:v>SVM</c:v>
                </c:pt>
                <c:pt idx="3">
                  <c:v>Logistic Reg.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77.78</c:v>
                </c:pt>
                <c:pt idx="1">
                  <c:v>70.28</c:v>
                </c:pt>
                <c:pt idx="2">
                  <c:v>70.56</c:v>
                </c:pt>
                <c:pt idx="3">
                  <c:v>47.78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F70-4D03-BDC6-34DD1277D6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223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fect-detection-ml-vhi9bphk8zxpscrfrh5gte.streamlit.ap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🔍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Defect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Industrial Quality Control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0" y="14173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3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Metal Surface Defects (1800 images)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</a:t>
            </a:r>
            <a:r>
              <a:rPr lang="en-US" sz="13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defect types × 300 images each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</a:t>
            </a:r>
            <a:r>
              <a:rPr lang="en-US" sz="13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(77.78% accuracy)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</a:t>
            </a:r>
            <a:r>
              <a:rPr lang="en-US" sz="13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Crazing  •  Inclusion  •  Patches  •  Pitted Surface  •  Rolled-in Scale  •  Scratches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4224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 A R   •   Krishnendhu M S   •   Archana 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4572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automated surface defect detection matters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840480" cy="3474720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0" y="1051560"/>
            <a:ext cx="4206240" cy="3474720"/>
          </a:xfrm>
          <a:prstGeom prst="rect">
            <a:avLst/>
          </a:prstGeom>
          <a:solidFill>
            <a:srgbClr val="FFF8E1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887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is slow, inconsistent, and expensive.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surface defects directly impact product quality and safety in manufacturing.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vision systems require expensive hardware and manual tuning.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ML-based image classification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Trained on 1800 real defect images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6 defect categories supported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web app deployment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77.78% accuracy with Random Forest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Data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Metal Surface Defects Database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/home/claude/class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384048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1005840"/>
            <a:ext cx="4114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1" descr="/home/claude/histogra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097280"/>
            <a:ext cx="3931920" cy="2651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3977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(300 images × 6 classes)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663440" y="3977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Intensity Distribution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Perfectly balanced dataset — no class imbalance issues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meaningful features from 64×64 grayscale images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834640" cy="2194560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image flattened to 4096 pixel intensity values (0–1 normalized)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834640" cy="2194560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143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Features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pixel intensity and Standard deviation to capture brightness &amp; contrast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51560"/>
            <a:ext cx="2834640" cy="2194560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143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🔲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4652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Features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148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detection mean — captures structural patterns and boundaries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0" descr="/home/claude/feature_import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3493008"/>
            <a:ext cx="8229600" cy="12801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Important Features (Random Forest) — std_pixel dominates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correlation heatmap across feature space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/home/claude/correlation_matri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78992"/>
            <a:ext cx="402336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1051560"/>
            <a:ext cx="3931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46320" y="1051560"/>
            <a:ext cx="91440" cy="10058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Correlation (Red)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Spatially adjacent pixels share similar intensity — expected for structured surfaces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2240280"/>
            <a:ext cx="3931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2240280"/>
            <a:ext cx="91440" cy="10058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Correlation (Blue)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0" y="2606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 pixel pairs are weakly correlated — provides useful discriminative information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3429000"/>
            <a:ext cx="3931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3429000"/>
            <a:ext cx="91440" cy="100584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Pattern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0" y="3794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 confirms each pixel is most correlated with itself and nearby neighbors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4617720"/>
            <a:ext cx="3931920" cy="365760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937760" y="4663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Total features per sample: 4096 pixels + 3 engineered = 4099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classifiers trained on 80/20 train-test split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71600"/>
          <a:ext cx="3200400" cy="237744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77.78%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Random Forest saved as production model  →  models/model.pkl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— Random Forest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and per-class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/home/claude/Random_Forest_c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3931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709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Confusion Matrix (6 classes)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024128"/>
            <a:ext cx="4023360" cy="594360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1078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Crazing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0" y="10789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~83%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92040" y="135331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confusion with scratches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1682496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92040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49440" y="1737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92040" y="20116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with rolled-in scale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2340864"/>
            <a:ext cx="4023360" cy="594360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9204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949440" y="23957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92040" y="2670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class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54880" y="2999232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92040" y="30540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Pitted Surface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949440" y="30540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92040" y="332841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confusion with crazing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54880" y="3657600"/>
            <a:ext cx="4023360" cy="594360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892040" y="37124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Rolled-in Scale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949440" y="37124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~79%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92040" y="398678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misclassifications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754880" y="4315968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892040" y="4370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Scratches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949440" y="43708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~68%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92040" y="464515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 with rolled-in scale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4121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52060"/>
            <a:ext cx="8229600" cy="499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rgbClr val="546E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546E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surface defect detection interface</a:t>
            </a:r>
          </a:p>
          <a:p>
            <a:pPr algn="l"/>
            <a:r>
              <a:rPr lang="en-US" sz="1200" b="0" i="0" u="sng" dirty="0">
                <a:solidFill>
                  <a:srgbClr val="4493F8"/>
                </a:solidFill>
                <a:effectLst/>
                <a:latin typeface="Mona Sans VF"/>
                <a:hlinkClick r:id="rId3"/>
              </a:rPr>
              <a:t>https://defect-detection-ml-vhi9bphk8zxpscrfrh5gte.streamlit.app/</a:t>
            </a:r>
            <a:endParaRPr lang="en-US" sz="12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br>
              <a:rPr lang="en-US" sz="1200" dirty="0"/>
            </a:br>
            <a:endParaRPr lang="en-US" sz="1200" dirty="0">
              <a:solidFill>
                <a:srgbClr val="546E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546E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94179"/>
            <a:ext cx="5120640" cy="3652141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115568"/>
            <a:ext cx="3200400" cy="466344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111556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Upload any surface image (JPG/PNG)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0" y="1664208"/>
            <a:ext cx="320040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172821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Instant defect classification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2276856"/>
            <a:ext cx="320040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06440" y="234086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Confidence score + progress bar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0" y="2889504"/>
            <a:ext cx="320040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06440" y="295351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Edge detection visualization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0" y="3502152"/>
            <a:ext cx="320040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06440" y="356616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Extracted feature metrics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0" y="4114800"/>
            <a:ext cx="320040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06440" y="417880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Model insight explanation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C2D6244-DEEC-400B-9AFD-964FC17C7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53" y="1416159"/>
            <a:ext cx="4299045" cy="32994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DB0526-A79D-4538-BAA2-0E7CCAAB3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94" y="272102"/>
            <a:ext cx="8192068" cy="477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617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&amp;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325880" cy="2926080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NEU-DET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 images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00200" y="251460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097280"/>
            <a:ext cx="1325880" cy="2926080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37360" y="1188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37360" y="18745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246888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64×64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63240" y="251460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097280"/>
            <a:ext cx="1325880" cy="2926080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1188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00400" y="18745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46888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 pixels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Mean/Std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Edge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26280" y="251460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097280"/>
            <a:ext cx="1325880" cy="2926080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188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63440" y="18745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46888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DT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/ LR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9320" y="251460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097280"/>
            <a:ext cx="1325880" cy="2926080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1188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26480" y="18745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246888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model.pkl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52360" y="251460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1097280"/>
            <a:ext cx="1325880" cy="2926080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89520" y="1188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589520" y="18745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0" y="246888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Predict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</a:p>
          <a:p>
            <a:pPr algn="l"/>
            <a:endParaRPr lang="en-US" sz="1000" u="sng" dirty="0">
              <a:solidFill>
                <a:srgbClr val="4493F8"/>
              </a:solidFill>
              <a:latin typeface="Mona Sans VF"/>
            </a:endParaRPr>
          </a:p>
          <a:p>
            <a:pPr algn="l"/>
            <a:endParaRPr lang="en-US" sz="10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br>
              <a:rPr lang="en-US" sz="1000" dirty="0"/>
            </a:br>
            <a:endParaRPr lang="en-US" sz="950" dirty="0">
              <a:solidFill>
                <a:srgbClr val="546E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251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828800" y="4224528"/>
            <a:ext cx="11430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828800" y="423367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035808" y="4224528"/>
            <a:ext cx="11430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035808" y="423367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42816" y="4224528"/>
            <a:ext cx="11430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242816" y="423367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49824" y="4224528"/>
            <a:ext cx="11430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49824" y="423367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56832" y="4224528"/>
            <a:ext cx="11430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656832" y="423367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863840" y="4224528"/>
            <a:ext cx="11430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D0D0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863840" y="423367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960120"/>
            <a:ext cx="393192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We Achieved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Balanced dataset of 1800 images processed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4099-feature vector per image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ML models trained and compared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Forest: 77.78% accuracy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Deployed as interactive Streamlit app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Git workflow on GitHub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492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Improvements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CNN / Deep Learning for higher accuracy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Transfer Learning (ResNet, VGG)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camera feed detection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Localization: highlight defect region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to cloud (AWS / GCP)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Mobile-friendly app interface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🎯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661</Words>
  <Application>Microsoft Office PowerPoint</Application>
  <PresentationFormat>On-screen Show (16:9)</PresentationFormat>
  <Paragraphs>177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Mona Sans VF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Surface Defect Detection System</dc:title>
  <dc:subject>PptxGenJS Presentation</dc:subject>
  <dc:creator>PptxGenJS</dc:creator>
  <cp:lastModifiedBy>krishnendhums7@gmail.com</cp:lastModifiedBy>
  <cp:revision>3</cp:revision>
  <dcterms:created xsi:type="dcterms:W3CDTF">2026-05-11T08:51:24Z</dcterms:created>
  <dcterms:modified xsi:type="dcterms:W3CDTF">2026-05-15T09:40:11Z</dcterms:modified>
</cp:coreProperties>
</file>